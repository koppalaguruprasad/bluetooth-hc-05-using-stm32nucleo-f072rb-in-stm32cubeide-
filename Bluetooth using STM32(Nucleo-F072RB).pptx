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5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6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7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8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notesSlides/notesSlide9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notesSlides/notesSlide10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11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70" r:id="rId4"/>
    <p:sldId id="503" r:id="rId5"/>
    <p:sldId id="497" r:id="rId6"/>
    <p:sldId id="493" r:id="rId7"/>
    <p:sldId id="506" r:id="rId8"/>
    <p:sldId id="505" r:id="rId9"/>
    <p:sldId id="498" r:id="rId10"/>
    <p:sldId id="507" r:id="rId11"/>
    <p:sldId id="501" r:id="rId12"/>
    <p:sldId id="502" r:id="rId13"/>
    <p:sldId id="494" r:id="rId14"/>
    <p:sldId id="50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12:11:04.8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2641 91,'-75'1,"-1"-3,1-4,-132-26,83 7,54 13,15 5,0 2,-1 2,-63 6,13-1,-858-2,933 2,0 1,-41 10,12-2,-107 18,101-17,36-6,-44 4,63-10,-1 1,1 0,0 1,0 1,0 0,0 0,0 1,-13 6,10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12:11:14.3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1934 1,'-40'2,"-1"2,-76 18,72-12,-85 8,-209-19,228-13,69 8,-56-2,-358 9,429 0,0 2,-33 7,31-4,-48 2,-29-9,-41 3,124 2,5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12:11:17.2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1351 60,'-84'2,"28"0,1-3,-94-13,-104-20,176 25,0 4,-110 6,60 1,99-2,18-1,1 0,-1 1,0 0,0 1,0 0,1 1,-1 0,1 0,-1 1,1 0,-16 7,-79 41,82-37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12:12:18.9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1020 22,'-57'-8,"13"0,-88 2,-192 17,30 1,143-13,134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12:12:22.6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869 0,'-209'11,"74"-1,-132-8,136-4,122 3,0 0,0 0,-1 1,1 1,1-1,-1 1,-15 8,-2 0,12-7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2:12:25.5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911 0 0,'-910'127'0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09:58:58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09:59:4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B4874-2E40-4821-A7A2-73C0105D4AFA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7BDD4-ABCD-44A8-B945-771320387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13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4BBE-B390-7CD2-C0A3-7F7DED1E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79A1ACCF-EA96-3505-5240-81E1AD226D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34A4081-E90F-DCE4-13C1-BD9D7EBCDE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FE6B3CA-2DA8-3EBB-3D21-F893980995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A1E19A-9978-6D7B-6E7B-A88157E5AB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012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4266-69FE-E215-3554-EACC36686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E6E89653-C9CE-FDD4-D1DE-36CD2C116C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7314876-4C3F-E134-9295-98EDB1E88C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02556281-460F-DCB9-D791-FC8DEBAC3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B94475-5EE6-FA9E-3B3B-E422E9E630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489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A96C-7FD9-3EF0-B770-DA0AB89F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35FE63C9-7C21-0FF1-6B32-FA96F5006C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F5B0DCD-3EEA-FE8B-0B31-14928C4937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428BD207-229E-FAE8-851B-A506FB36C4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B3802E-F941-CC2C-5EF7-10DD179121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005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143A-08DC-B98E-1A10-B335EE7D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5C30616D-E33D-B3C0-F226-28927519AC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6052DC0-5C47-FED3-97E2-4A28AC3ED2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851638F-4BE5-3387-A151-0BAF9E6D3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08CCBC-223E-33AD-3877-7301B233ED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616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D3B8-5EB6-66BD-1870-64206B8C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6022F9F-D74B-1E85-4EFF-9F7777ED6F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62A41B02-4892-14CC-39E2-1FDA1CC560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06D03DC-16AF-FA36-B329-37B9931F7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40FA28-4135-CD19-9E70-6802B3DE07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999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BEB9-72D8-2E1C-C3CC-AD8C51F3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50A9A9CA-7D7F-EF8F-5911-D487A4A274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ACDCE64-8ED6-1620-0118-F4793E66DE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2811B67-0163-47E6-89D9-9D753D4E5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C980D4-7F7A-B015-B55E-48151B9FAE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009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A5EB-BFFC-431F-F4C7-8C5A9496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0E6247DD-825E-EA85-C4EF-565E6C3735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167BBE6-6675-09E3-5AEE-DD00C5D70F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BA4B01F-2021-2A20-A969-909C57561E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E87E0-7F94-23EF-B65C-40334E3DE1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768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84E7-51FF-9B2B-6279-60AA5BD1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85DB1537-2D49-34EC-DA26-325E7BC95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CEDF17A-C58A-3CD4-5FBB-A928928611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05264B8-B419-E5F4-4003-03956BAE4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17CB0E-1772-D3A4-F838-EE56ED214E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666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A048-0DC6-2AAE-B3BB-3D0EFCCA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B391500D-913B-CAA4-7F0B-56AFD3D459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274A7D5-33F5-0479-FFEA-789121FE0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E3E132C-0D30-326E-E4E7-CBBA8834F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228F6A-EA6C-7826-A505-2D38F15A65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39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890CF-7A19-FF9A-69C2-8788668D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82901FC5-047C-D01C-2AB3-F28CDB4764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207F568-AA51-3741-D433-47B6351579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C3DBC01-FC86-BEE7-194B-9178ADB1D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8893FA-F52E-566F-85B5-41257CB894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268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52B96-790E-8CB0-CC4A-A0C3E57E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F745142-945D-E058-32E4-EECD2E8431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6110E70-A24C-4EEA-AF2C-F98ACCD5392E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477B131-2058-3CDC-99CC-36D824E42F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" y="750888"/>
            <a:ext cx="6594475" cy="3709987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8BB7F8C-74F5-3AEB-6B27-5AF622670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BCC7DF-A43F-8443-6B8B-F1207B14B9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846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315F-3191-75DE-5AA0-E26608C05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471E5-76B1-AFC5-06CC-1420F993C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39954-F7CC-CAF9-268E-A3BEEE46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78C63-B34B-CA58-FA45-F4C2E861E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C1608-6B4B-39BC-F9DD-7D2A6852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58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1D2C-161E-FE5D-551F-F6FB4881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C8EF1-44CE-20DB-04E5-FBA1DD264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2C961-8575-369D-4BE6-81723676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CEAE8-9666-1C5E-E258-BB37B120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E617C-982D-13FA-8A5D-867E4917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74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954D-FE63-3493-60ED-3D924E58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5FC1C-38DE-EC2B-E99E-B7DC116F2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7D81A-844C-27A7-4BB3-A56DB086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3E34-34D3-9A96-C43E-918D5A05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BBCB7-0F0B-ADF2-6B04-FBC2FC53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3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6905-724C-8FEA-53A0-8BF24EE69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4E7D-5173-AC73-F819-E26ED3480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DE12C-431C-48C9-65AA-ABFCA7687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C11F8-14E9-CD18-5EED-9190419F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70E0F-FAB6-82CE-3A9D-1AAE9017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AE329-1279-5D6D-9AA0-B3621BC5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DA63-8DB1-98C3-3827-E1F2825E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B79A8-EC22-A78A-3527-610345A8B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2B1D6-D7EF-2903-8554-419AB2CDA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910A1-9246-2B55-DBB4-256987620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A29CC3-2944-AB0D-9888-B7696FB6C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3DE73-AE1C-4BEB-4B8C-31F4A99D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18BF8-1494-11A4-7C19-98F08CEF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644236-A56D-363C-2947-FFA61B09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48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8DD6-7426-43EC-ED3F-2EC1B1EED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A5C5A-7758-6272-BA7B-70EC3681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50B75-8AC1-5C15-03A8-005B8AA3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ACD5E-012B-8FFF-7A38-703A70C5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7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0D2766-AC96-2F4F-8101-E2C2AA3E7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C1E8A-3E34-B13F-BF6A-B0C9F644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668C9-5ADD-ED48-2C6B-BFBBD45D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34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C461-5B42-9F8C-56D9-16BC09B6B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D09B-B578-1EA6-7D91-E27826C9F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DF749-F1E9-AACD-22AC-BDB328FF4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E9E07-D213-D602-C495-C05D8AE7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D0885-37CA-3DE6-694D-922FD165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02823-EDF4-7B43-7ABC-8443DE19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8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ED3A-63A7-3AF6-D5FD-77819D80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03587-B815-3B3B-EBBE-72F51B1DB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96B55-D07B-DB18-06C5-BF89D513D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345E6-724A-E5C0-BF6A-E742CE1B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5CA3C-B13E-1E5F-B356-E02E8FFA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6A3DD-B8F8-D52C-C8F9-2DFD26F0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97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38CB-B532-2D6B-35D6-1CEFC2C15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7D8F1-F341-13AB-9623-BAC2B9281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AA160-9A6E-188B-0028-DE9793C1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D7A86-F208-502B-A2FF-7FABFED9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E5FD0-7CEE-EAEF-B694-3DB41C47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9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731661-9C1F-C8F9-ADC3-A96E4980E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32DE1-3D69-74D0-261B-B6379562F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11A43-4D23-593B-A330-8F2BDAEE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019D4-FC88-56F9-8E3B-9DCDD5B0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2C235-0EAC-A14A-F26F-7BBB7254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93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D9743A-D8F2-0BB1-189E-15D2ED90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513A4-157F-F702-F717-9DF1E7391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40130-741A-ABF0-96C9-512FF1DE2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CA327-4BF5-498E-B615-BA0E0B735105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D5C2-7C45-8789-37D4-4316E50EB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2914-1C74-B46B-1606-42C21CB96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40FC8-DC0B-4A3D-BCC5-687E5390F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1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9.xml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customXml" Target="../ink/ink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0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customXml" Target="../ink/ink2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customXml" Target="../ink/ink2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customXml" Target="../ink/ink25.xml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customXml" Target="../ink/ink2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2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EA5B93-4441-B94C-A57B-59CB4AE25856}"/>
              </a:ext>
            </a:extLst>
          </p:cNvPr>
          <p:cNvSpPr txBox="1"/>
          <p:nvPr/>
        </p:nvSpPr>
        <p:spPr>
          <a:xfrm>
            <a:off x="3048000" y="1351508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363940"/>
                </a:solidFill>
                <a:effectLst/>
                <a:latin typeface="Bell MT" panose="02020503060305020303" pitchFamily="18" charset="0"/>
              </a:rPr>
              <a:t>STM32 using Bluetooth in STM32CubeIDE</a:t>
            </a:r>
          </a:p>
          <a:p>
            <a:endParaRPr lang="en-US" sz="2400" b="1" i="0" dirty="0">
              <a:solidFill>
                <a:srgbClr val="363940"/>
              </a:solidFill>
              <a:effectLst/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Open your STM32CubeIDE then go to </a:t>
            </a:r>
            <a:r>
              <a:rPr lang="en-US" b="1" dirty="0">
                <a:solidFill>
                  <a:srgbClr val="363940"/>
                </a:solidFill>
                <a:latin typeface="Bell MT" panose="02020503060305020303" pitchFamily="18" charset="0"/>
              </a:rPr>
              <a:t>File &gt; New &gt; STM32 project.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Then click on </a:t>
            </a:r>
            <a:r>
              <a:rPr lang="en-US" b="1" dirty="0">
                <a:solidFill>
                  <a:srgbClr val="363940"/>
                </a:solidFill>
                <a:latin typeface="Bell MT" panose="02020503060305020303" pitchFamily="18" charset="0"/>
              </a:rPr>
              <a:t>Board Selector</a:t>
            </a: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 tab and search your selected development board or Microcontroller in the search bar. In our case, we select </a:t>
            </a:r>
            <a:r>
              <a:rPr lang="en-US" b="1" dirty="0">
                <a:solidFill>
                  <a:srgbClr val="363940"/>
                </a:solidFill>
                <a:latin typeface="Bell MT" panose="02020503060305020303" pitchFamily="18" charset="0"/>
              </a:rPr>
              <a:t>NUCLEO-F072RB</a:t>
            </a: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 development board then click Next and click finish.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Write the name of the project in </a:t>
            </a:r>
            <a:r>
              <a:rPr lang="en-US" b="1" dirty="0">
                <a:solidFill>
                  <a:srgbClr val="363940"/>
                </a:solidFill>
                <a:latin typeface="Bell MT" panose="02020503060305020303" pitchFamily="18" charset="0"/>
              </a:rPr>
              <a:t>Project Name</a:t>
            </a: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 field also Select your </a:t>
            </a:r>
            <a:r>
              <a:rPr lang="en-US" b="1" dirty="0">
                <a:solidFill>
                  <a:srgbClr val="363940"/>
                </a:solidFill>
                <a:latin typeface="Bell MT" panose="02020503060305020303" pitchFamily="18" charset="0"/>
              </a:rPr>
              <a:t>project location</a:t>
            </a: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 (workspace) and click </a:t>
            </a:r>
            <a:r>
              <a:rPr lang="en-US" b="1" dirty="0">
                <a:solidFill>
                  <a:srgbClr val="363940"/>
                </a:solidFill>
                <a:latin typeface="Bell MT" panose="02020503060305020303" pitchFamily="18" charset="0"/>
              </a:rPr>
              <a:t>Finish</a:t>
            </a:r>
            <a:r>
              <a:rPr lang="en-US" dirty="0">
                <a:solidFill>
                  <a:srgbClr val="363940"/>
                </a:solidFill>
                <a:latin typeface="Bell MT" panose="02020503060305020303" pitchFamily="18" charset="0"/>
              </a:rPr>
              <a:t> button. In our case, we select the default location.</a:t>
            </a:r>
            <a:endParaRPr lang="en-IN" dirty="0">
              <a:latin typeface="Bell MT" panose="02020503060305020303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16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95213-9D00-078D-FA4E-3D669330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5BC861-B99A-DFA1-A77C-3EA98435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9" y="1426374"/>
            <a:ext cx="8597746" cy="459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645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321D-D27F-C423-06E2-0D31A3D6A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FC0B4-8339-74B3-30E3-C308A885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8" y="1462816"/>
            <a:ext cx="8676816" cy="45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2BF3-778D-05FF-652F-FF585CA1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21A9A93-F2C6-104B-1DD0-BBF35209F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IN" dirty="0"/>
              <a:t>LCD using STM32CubeIDE </a:t>
            </a: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192DD1A2-8E89-541F-9085-86C4A9F2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4E76602C-B3C5-6E20-31E6-555DE9C47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B777F6-058F-65A3-9E86-2617F25818DB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A685DC-67E6-0D45-4DF7-827BE5719785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A685DC-67E6-0D45-4DF7-827BE57197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B2458E-E65C-ACC6-F23A-C9286DD1F61E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B2458E-E65C-ACC6-F23A-C9286DD1F6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D239B9-0A7A-1670-3698-2CBDC86AF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842" y="1424557"/>
            <a:ext cx="4142770" cy="4441672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717CCD-0293-42F6-532D-FB4373C889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806" y="1424557"/>
            <a:ext cx="4364819" cy="444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3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69F8-9560-E50A-8858-F68D533D7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502B376-B832-F598-FCFA-24A15B95B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F1877F03-3788-54C7-5CEF-B63FD89A5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2CEC9C2A-B3E4-AC25-F406-178CFF27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DBEBEF-FDAB-0EE5-944A-9F46A5A21D6A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1A5D22-933E-A502-6064-7C9B92B170AA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1A5D22-933E-A502-6064-7C9B92B170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90384A-B53A-E4B9-B885-49A27160B368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90384A-B53A-E4B9-B885-49A27160B3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4386" name="TextBox 14385">
            <a:extLst>
              <a:ext uri="{FF2B5EF4-FFF2-40B4-BE49-F238E27FC236}">
                <a16:creationId xmlns:a16="http://schemas.microsoft.com/office/drawing/2014/main" id="{E4EF6B12-09AA-2866-29CC-B5AA0CB7DBDF}"/>
              </a:ext>
            </a:extLst>
          </p:cNvPr>
          <p:cNvSpPr txBox="1"/>
          <p:nvPr/>
        </p:nvSpPr>
        <p:spPr>
          <a:xfrm>
            <a:off x="1781088" y="1371600"/>
            <a:ext cx="86775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If you want to 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view</a:t>
            </a: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 or 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edit</a:t>
            </a: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 your configuration settings double click to your </a:t>
            </a:r>
            <a:r>
              <a:rPr lang="en-US" sz="2400" b="1" dirty="0" err="1">
                <a:solidFill>
                  <a:srgbClr val="363940"/>
                </a:solidFill>
                <a:latin typeface="Bell MT" panose="02020503060305020303" pitchFamily="18" charset="0"/>
              </a:rPr>
              <a:t>project.ioc</a:t>
            </a: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 file and open the 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Device Configuration Tool</a:t>
            </a: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 of STM32CubeIDE. Change the configuration settings as your project needs.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By default 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STM32Cube Ide</a:t>
            </a: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 add some default configuration settings in this tool like RCC Clock settings and UART peripheral configurations, if you select any STM32 development board for your project.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Check baud rate and make sure NVIC interrupt table USART1 global interrupt will be enable. </a:t>
            </a:r>
            <a:endParaRPr lang="en-IN" sz="2400" dirty="0">
              <a:latin typeface="Bell MT" panose="02020503060305020303" pitchFamily="18" charset="0"/>
            </a:endParaRPr>
          </a:p>
        </p:txBody>
      </p:sp>
      <p:graphicFrame>
        <p:nvGraphicFramePr>
          <p:cNvPr id="14387" name="Table 14386">
            <a:extLst>
              <a:ext uri="{FF2B5EF4-FFF2-40B4-BE49-F238E27FC236}">
                <a16:creationId xmlns:a16="http://schemas.microsoft.com/office/drawing/2014/main" id="{ED6AB5E8-AAA3-5A3D-9748-C469B8BCA376}"/>
              </a:ext>
            </a:extLst>
          </p:cNvPr>
          <p:cNvGraphicFramePr>
            <a:graphicFrameLocks noGrp="1"/>
          </p:cNvGraphicFramePr>
          <p:nvPr/>
        </p:nvGraphicFramePr>
        <p:xfrm>
          <a:off x="7315200" y="4835112"/>
          <a:ext cx="2724150" cy="365760"/>
        </p:xfrm>
        <a:graphic>
          <a:graphicData uri="http://schemas.openxmlformats.org/drawingml/2006/table">
            <a:tbl>
              <a:tblPr/>
              <a:tblGrid>
                <a:gridCol w="908050">
                  <a:extLst>
                    <a:ext uri="{9D8B030D-6E8A-4147-A177-3AD203B41FA5}">
                      <a16:colId xmlns:a16="http://schemas.microsoft.com/office/drawing/2014/main" val="1671096749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4072291397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673906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350203"/>
                  </a:ext>
                </a:extLst>
              </a:tr>
            </a:tbl>
          </a:graphicData>
        </a:graphic>
      </p:graphicFrame>
      <p:graphicFrame>
        <p:nvGraphicFramePr>
          <p:cNvPr id="14388" name="Table 14387">
            <a:extLst>
              <a:ext uri="{FF2B5EF4-FFF2-40B4-BE49-F238E27FC236}">
                <a16:creationId xmlns:a16="http://schemas.microsoft.com/office/drawing/2014/main" id="{EB85D840-8E34-CCC3-A196-C945C14AA342}"/>
              </a:ext>
            </a:extLst>
          </p:cNvPr>
          <p:cNvGraphicFramePr>
            <a:graphicFrameLocks noGrp="1"/>
          </p:cNvGraphicFramePr>
          <p:nvPr/>
        </p:nvGraphicFramePr>
        <p:xfrm>
          <a:off x="7981950" y="4987513"/>
          <a:ext cx="1558290" cy="365760"/>
        </p:xfrm>
        <a:graphic>
          <a:graphicData uri="http://schemas.openxmlformats.org/drawingml/2006/table">
            <a:tbl>
              <a:tblPr/>
              <a:tblGrid>
                <a:gridCol w="519430">
                  <a:extLst>
                    <a:ext uri="{9D8B030D-6E8A-4147-A177-3AD203B41FA5}">
                      <a16:colId xmlns:a16="http://schemas.microsoft.com/office/drawing/2014/main" val="1671096749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4072291397"/>
                    </a:ext>
                  </a:extLst>
                </a:gridCol>
                <a:gridCol w="519430">
                  <a:extLst>
                    <a:ext uri="{9D8B030D-6E8A-4147-A177-3AD203B41FA5}">
                      <a16:colId xmlns:a16="http://schemas.microsoft.com/office/drawing/2014/main" val="673906197"/>
                    </a:ext>
                  </a:extLst>
                </a:gridCol>
              </a:tblGrid>
              <a:tr h="1697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35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720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0B2CE-D34E-E14E-4A15-375578D7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1972276-C8E6-69C2-3175-71121D7B9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AFA0C429-5529-4239-E4F2-795456EB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1611DA75-C9FD-9974-9E7E-39BF9E4A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B75628-170C-A067-17D0-C0DD518DAF59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3F99E0-DC9D-595F-B286-861A342BC659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3F99E0-DC9D-595F-B286-861A342BC6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2340E7-3C00-EB0A-4318-AD1083BBD268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2340E7-3C00-EB0A-4318-AD1083BBD2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7" name="Picture 56">
            <a:extLst>
              <a:ext uri="{FF2B5EF4-FFF2-40B4-BE49-F238E27FC236}">
                <a16:creationId xmlns:a16="http://schemas.microsoft.com/office/drawing/2014/main" id="{A8D4DD94-06F6-BFDE-C09A-76BE8527B4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7538EC5-591E-F6BB-F330-4A1604801836}"/>
                  </a:ext>
                </a:extLst>
              </p14:cNvPr>
              <p14:cNvContentPartPr/>
              <p14:nvPr/>
            </p14:nvContentPartPr>
            <p14:xfrm>
              <a:off x="6069600" y="2314440"/>
              <a:ext cx="950760" cy="46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7538EC5-591E-F6BB-F330-4A16048018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15600" y="2206440"/>
                <a:ext cx="1058400" cy="26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263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8812B-30D6-B1F5-E176-900E55F4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BC45F16-3B26-92A8-F60B-55CF643F38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57D6718A-698C-4D3C-7415-857703D3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174D1130-B03C-711F-227C-15A6D738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6F92ED-ADF5-174F-682B-4C79EE81F321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41A3EE-4642-E02B-488C-4FDA40D5E571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41A3EE-4642-E02B-488C-4FDA40D5E5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8B9D30-FC4C-6F01-AF07-4A3A76C57DEC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8B9D30-FC4C-6F01-AF07-4A3A76C57D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553C9DB2-22FD-F3B2-0D40-C06629C0D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1AE22A-499F-7A9E-4A10-86FAAAA7580F}"/>
                  </a:ext>
                </a:extLst>
              </p14:cNvPr>
              <p14:cNvContentPartPr/>
              <p14:nvPr/>
            </p14:nvContentPartPr>
            <p14:xfrm>
              <a:off x="5369400" y="2336760"/>
              <a:ext cx="696600" cy="24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1AE22A-499F-7A9E-4A10-86FAAAA758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15372" y="2228760"/>
                <a:ext cx="804296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670F36-2CA4-6290-FEB8-C9B9406C17AE}"/>
                  </a:ext>
                </a:extLst>
              </p14:cNvPr>
              <p14:cNvContentPartPr/>
              <p14:nvPr/>
            </p14:nvContentPartPr>
            <p14:xfrm>
              <a:off x="6422760" y="4306320"/>
              <a:ext cx="486360" cy="32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670F36-2CA4-6290-FEB8-C9B9406C17A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68760" y="4198320"/>
                <a:ext cx="594000" cy="2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108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BA80-5B61-EE87-D5A2-601BE894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5B9F3C4-99B8-4A9B-B6C4-8DC49DE8B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6D20EC93-885E-3241-E7FB-31014CCF6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FA6D78E7-8C86-08D4-2890-77DC58C5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F3FDAF-80E6-B350-01D1-3D191A20C8FB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1B9ACC-C343-483C-88C9-AE8CE36B320F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1B9ACC-C343-483C-88C9-AE8CE36B32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99EA6D-7FA6-15E8-2491-47D6EFFBD349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99EA6D-7FA6-15E8-2491-47D6EFFBD3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C367BD6-F798-545B-DFE2-8659FD95E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7693" y="1462818"/>
            <a:ext cx="8067436" cy="45379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375E68-32E9-ABE3-4141-E334435C78B7}"/>
                  </a:ext>
                </a:extLst>
              </p14:cNvPr>
              <p14:cNvContentPartPr/>
              <p14:nvPr/>
            </p14:nvContentPartPr>
            <p14:xfrm>
              <a:off x="5119200" y="4457160"/>
              <a:ext cx="367200" cy="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375E68-32E9-ABE3-4141-E334435C78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65200" y="4349160"/>
                <a:ext cx="4748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122B7F5-0F00-3038-4B0F-6C98AD2B9AFE}"/>
                  </a:ext>
                </a:extLst>
              </p14:cNvPr>
              <p14:cNvContentPartPr/>
              <p14:nvPr/>
            </p14:nvContentPartPr>
            <p14:xfrm>
              <a:off x="6384960" y="3908880"/>
              <a:ext cx="313200" cy="21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122B7F5-0F00-3038-4B0F-6C98AD2B9A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30960" y="3800880"/>
                <a:ext cx="4208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0A1ACF-4AD6-8A62-90EB-289B076F9433}"/>
                  </a:ext>
                </a:extLst>
              </p14:cNvPr>
              <p14:cNvContentPartPr/>
              <p14:nvPr/>
            </p14:nvContentPartPr>
            <p14:xfrm>
              <a:off x="7353000" y="3687840"/>
              <a:ext cx="327960" cy="46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0A1ACF-4AD6-8A62-90EB-289B076F94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99000" y="3579840"/>
                <a:ext cx="435600" cy="26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0173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1348-E8BD-EBC1-8BF8-DD887C94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90C7F5F-5366-E6F5-7AD9-1FE1A6646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815AEAFB-061E-63D6-7ED2-9BA0837A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10197336-6F71-2CF8-BC2B-0E346556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2ED598-4540-6711-CD3D-305FF3A5CB9D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A6012F-2133-1CE5-70DC-68EF59135C7B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A6012F-2133-1CE5-70DC-68EF59135C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D117DF-86E6-DB9D-B25F-5607C348AF5D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D117DF-86E6-DB9D-B25F-5607C348AF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B3834D-24D8-8E39-8184-6DFB0C193E4F}"/>
              </a:ext>
            </a:extLst>
          </p:cNvPr>
          <p:cNvSpPr txBox="1"/>
          <p:nvPr/>
        </p:nvSpPr>
        <p:spPr>
          <a:xfrm>
            <a:off x="1625600" y="1290319"/>
            <a:ext cx="8920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After finish all the configurations, click on 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File &gt; Save</a:t>
            </a: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 and Generate the code.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After complete the code writing first build the project by clicking the 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build</a:t>
            </a: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 tool.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63940"/>
                </a:solidFill>
                <a:latin typeface="Bell MT" panose="02020503060305020303" pitchFamily="18" charset="0"/>
              </a:rPr>
              <a:t>Then click to 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Run &gt; Run As &gt; STM32 c/</a:t>
            </a:r>
            <a:r>
              <a:rPr lang="en-US" sz="2400" b="1" dirty="0" err="1">
                <a:solidFill>
                  <a:srgbClr val="363940"/>
                </a:solidFill>
                <a:latin typeface="Bell MT" panose="02020503060305020303" pitchFamily="18" charset="0"/>
              </a:rPr>
              <a:t>c++</a:t>
            </a:r>
            <a:r>
              <a:rPr lang="en-US" sz="2400" b="1" dirty="0">
                <a:solidFill>
                  <a:srgbClr val="363940"/>
                </a:solidFill>
                <a:latin typeface="Bell MT" panose="02020503060305020303" pitchFamily="18" charset="0"/>
              </a:rPr>
              <a:t> Application.</a:t>
            </a:r>
          </a:p>
          <a:p>
            <a:endParaRPr lang="en-IN" sz="24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805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8103-8FCF-9B94-706F-28FA3C4B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02AB2DC-EE52-DA0E-8D25-4E784112F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3CC23036-1CA1-3158-BE6F-F7A379F7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308D6E01-3EE3-0309-5AB5-9C450CD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C05720-D5D4-86A7-D992-65F93C309A4A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3C7C20-4AE1-7FF5-8702-D206C922E580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3C7C20-4AE1-7FF5-8702-D206C922E5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E146DA-41BE-C0CB-CFBF-0F8F8F245657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E146DA-41BE-C0CB-CFBF-0F8F8F2456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6551419-2889-8334-1A62-6CEFF0CDCEAA}"/>
              </a:ext>
            </a:extLst>
          </p:cNvPr>
          <p:cNvSpPr txBox="1"/>
          <p:nvPr/>
        </p:nvSpPr>
        <p:spPr>
          <a:xfrm>
            <a:off x="1625600" y="1290320"/>
            <a:ext cx="892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Bell MT" panose="02020503060305020303" pitchFamily="18" charset="0"/>
              </a:rPr>
              <a:t>Code :</a:t>
            </a:r>
          </a:p>
          <a:p>
            <a:endParaRPr lang="en-IN" sz="2400" dirty="0">
              <a:latin typeface="Bell MT" panose="0202050306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A5631-60FD-68DE-1194-4F0F8BD7E0EB}"/>
              </a:ext>
            </a:extLst>
          </p:cNvPr>
          <p:cNvSpPr txBox="1"/>
          <p:nvPr/>
        </p:nvSpPr>
        <p:spPr>
          <a:xfrm>
            <a:off x="1625601" y="2281336"/>
            <a:ext cx="9042400" cy="8928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/* USER CODE BEGIN Header */</a:t>
            </a:r>
          </a:p>
          <a:p>
            <a:r>
              <a:rPr lang="en-IN" dirty="0">
                <a:latin typeface="Consolas" panose="020B0609020204030204" pitchFamily="49" charset="0"/>
              </a:rPr>
              <a:t>/**</a:t>
            </a:r>
          </a:p>
          <a:p>
            <a:r>
              <a:rPr lang="en-IN" dirty="0">
                <a:latin typeface="Consolas" panose="020B0609020204030204" pitchFamily="49" charset="0"/>
              </a:rPr>
              <a:t>******************************************************************************</a:t>
            </a:r>
          </a:p>
          <a:p>
            <a:r>
              <a:rPr lang="en-IN" dirty="0">
                <a:latin typeface="Consolas" panose="020B0609020204030204" pitchFamily="49" charset="0"/>
              </a:rPr>
              <a:t>* @file : </a:t>
            </a:r>
            <a:r>
              <a:rPr lang="en-IN" dirty="0" err="1">
                <a:latin typeface="Consolas" panose="020B0609020204030204" pitchFamily="49" charset="0"/>
              </a:rPr>
              <a:t>main.c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* @brief : Main program body</a:t>
            </a:r>
          </a:p>
          <a:p>
            <a:r>
              <a:rPr lang="en-IN" dirty="0">
                <a:latin typeface="Consolas" panose="020B0609020204030204" pitchFamily="49" charset="0"/>
              </a:rPr>
              <a:t>******************************************************************************</a:t>
            </a:r>
          </a:p>
          <a:p>
            <a:r>
              <a:rPr lang="en-IN" dirty="0">
                <a:latin typeface="Consolas" panose="020B0609020204030204" pitchFamily="49" charset="0"/>
              </a:rPr>
              <a:t>* @attention</a:t>
            </a:r>
          </a:p>
          <a:p>
            <a:r>
              <a:rPr lang="en-IN" dirty="0">
                <a:latin typeface="Consolas" panose="020B0609020204030204" pitchFamily="49" charset="0"/>
              </a:rPr>
              <a:t>*</a:t>
            </a:r>
          </a:p>
          <a:p>
            <a:r>
              <a:rPr lang="en-IN" dirty="0">
                <a:latin typeface="Consolas" panose="020B0609020204030204" pitchFamily="49" charset="0"/>
              </a:rPr>
              <a:t>* Copyright (c) 2024 STMicroelectronics.</a:t>
            </a:r>
          </a:p>
          <a:p>
            <a:r>
              <a:rPr lang="en-IN" dirty="0">
                <a:latin typeface="Consolas" panose="020B0609020204030204" pitchFamily="49" charset="0"/>
              </a:rPr>
              <a:t>* All rights reserved.</a:t>
            </a:r>
          </a:p>
          <a:p>
            <a:r>
              <a:rPr lang="en-IN" dirty="0">
                <a:latin typeface="Consolas" panose="020B0609020204030204" pitchFamily="49" charset="0"/>
              </a:rPr>
              <a:t>*</a:t>
            </a:r>
          </a:p>
          <a:p>
            <a:r>
              <a:rPr lang="en-IN" dirty="0">
                <a:latin typeface="Consolas" panose="020B0609020204030204" pitchFamily="49" charset="0"/>
              </a:rPr>
              <a:t>* This software is licensed under terms that can be found in the LICENSE file</a:t>
            </a:r>
          </a:p>
          <a:p>
            <a:r>
              <a:rPr lang="en-IN" dirty="0">
                <a:latin typeface="Consolas" panose="020B0609020204030204" pitchFamily="49" charset="0"/>
              </a:rPr>
              <a:t>* in the root directory of this software component.</a:t>
            </a:r>
          </a:p>
          <a:p>
            <a:r>
              <a:rPr lang="en-IN" dirty="0">
                <a:latin typeface="Consolas" panose="020B0609020204030204" pitchFamily="49" charset="0"/>
              </a:rPr>
              <a:t>* If no LICENSE file comes with this software, it is provided AS-IS.</a:t>
            </a:r>
          </a:p>
          <a:p>
            <a:r>
              <a:rPr lang="en-IN" dirty="0">
                <a:latin typeface="Consolas" panose="020B0609020204030204" pitchFamily="49" charset="0"/>
              </a:rPr>
              <a:t>*</a:t>
            </a:r>
          </a:p>
          <a:p>
            <a:r>
              <a:rPr lang="en-IN" dirty="0">
                <a:latin typeface="Consolas" panose="020B0609020204030204" pitchFamily="49" charset="0"/>
              </a:rPr>
              <a:t>******************************************************************************</a:t>
            </a:r>
          </a:p>
          <a:p>
            <a:r>
              <a:rPr lang="en-IN" dirty="0">
                <a:latin typeface="Consolas" panose="020B0609020204030204" pitchFamily="49" charset="0"/>
              </a:rPr>
              <a:t>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Header */</a:t>
            </a:r>
          </a:p>
          <a:p>
            <a:r>
              <a:rPr lang="en-IN" dirty="0">
                <a:latin typeface="Consolas" panose="020B0609020204030204" pitchFamily="49" charset="0"/>
              </a:rPr>
              <a:t>/* Includes ------------------------------------------------------------------*/</a:t>
            </a:r>
          </a:p>
          <a:p>
            <a:r>
              <a:rPr lang="en-IN" b="1" dirty="0">
                <a:latin typeface="Consolas" panose="020B0609020204030204" pitchFamily="49" charset="0"/>
              </a:rPr>
              <a:t>#include</a:t>
            </a:r>
            <a:r>
              <a:rPr lang="en-IN" dirty="0">
                <a:latin typeface="Consolas" panose="020B0609020204030204" pitchFamily="49" charset="0"/>
              </a:rPr>
              <a:t> "</a:t>
            </a:r>
            <a:r>
              <a:rPr lang="en-IN" dirty="0" err="1">
                <a:latin typeface="Consolas" panose="020B0609020204030204" pitchFamily="49" charset="0"/>
              </a:rPr>
              <a:t>main.h</a:t>
            </a:r>
            <a:r>
              <a:rPr lang="en-IN" dirty="0">
                <a:latin typeface="Consolas" panose="020B0609020204030204" pitchFamily="49" charset="0"/>
              </a:rPr>
              <a:t>"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Private includes ----------------------------------------------------------*/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Includes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Includes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Private typedef -----------------------------------------------------------*/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PTD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PTD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Private define ------------------------------------------------------------*/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PD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PD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Private macro -------------------------------------------------------------*/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PM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PM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Private variables ---------------------------------------------------------*/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UART_HandleTypeDef</a:t>
            </a:r>
            <a:r>
              <a:rPr lang="en-IN" dirty="0">
                <a:latin typeface="Consolas" panose="020B0609020204030204" pitchFamily="49" charset="0"/>
              </a:rPr>
              <a:t> huart1;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PV */</a:t>
            </a:r>
          </a:p>
          <a:p>
            <a:r>
              <a:rPr lang="en-IN" b="1" dirty="0">
                <a:highlight>
                  <a:srgbClr val="FFFF00"/>
                </a:highlight>
                <a:latin typeface="Consolas" panose="020B0609020204030204" pitchFamily="49" charset="0"/>
              </a:rPr>
              <a:t>uint8_t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rxData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PV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Private function prototypes -----------------------------------------------*/</a:t>
            </a:r>
          </a:p>
          <a:p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 err="1">
                <a:latin typeface="Consolas" panose="020B0609020204030204" pitchFamily="49" charset="0"/>
              </a:rPr>
              <a:t>SystemClock_Config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r>
              <a:rPr lang="en-IN" b="1" dirty="0">
                <a:latin typeface="Consolas" panose="020B0609020204030204" pitchFamily="49" charset="0"/>
              </a:rPr>
              <a:t>static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 err="1">
                <a:latin typeface="Consolas" panose="020B0609020204030204" pitchFamily="49" charset="0"/>
              </a:rPr>
              <a:t>MX_GPIO_Init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r>
              <a:rPr lang="en-IN" b="1" dirty="0">
                <a:latin typeface="Consolas" panose="020B0609020204030204" pitchFamily="49" charset="0"/>
              </a:rPr>
              <a:t>static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</a:rPr>
              <a:t>MX_USART1_UART_Init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PFP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PFP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Private user code ---------------------------------------------------------*/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0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0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/**</a:t>
            </a:r>
          </a:p>
          <a:p>
            <a:r>
              <a:rPr lang="en-IN" dirty="0">
                <a:latin typeface="Consolas" panose="020B0609020204030204" pitchFamily="49" charset="0"/>
              </a:rPr>
              <a:t>* @brief The application entry point.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retval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u="sng" dirty="0">
                <a:latin typeface="Consolas" panose="020B0609020204030204" pitchFamily="49" charset="0"/>
              </a:rPr>
              <a:t>int</a:t>
            </a: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*/</a:t>
            </a:r>
          </a:p>
          <a:p>
            <a:r>
              <a:rPr lang="en-IN" b="1" dirty="0">
                <a:latin typeface="Consolas" panose="020B0609020204030204" pitchFamily="49" charset="0"/>
              </a:rPr>
              <a:t>int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</a:rPr>
              <a:t>main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1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1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MCU Configuration--------------------------------------------------------*/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Reset of all peripherals, Initializes the Flash interface and the </a:t>
            </a:r>
            <a:r>
              <a:rPr lang="en-IN" u="sng" dirty="0" err="1">
                <a:latin typeface="Consolas" panose="020B0609020204030204" pitchFamily="49" charset="0"/>
              </a:rPr>
              <a:t>Systick</a:t>
            </a:r>
            <a:r>
              <a:rPr lang="en-IN" dirty="0">
                <a:latin typeface="Consolas" panose="020B0609020204030204" pitchFamily="49" charset="0"/>
              </a:rPr>
              <a:t>. */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HAL_Init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Configure the system clock */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SystemClock_Config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</a:t>
            </a:r>
            <a:r>
              <a:rPr lang="en-IN" dirty="0" err="1">
                <a:latin typeface="Consolas" panose="020B0609020204030204" pitchFamily="49" charset="0"/>
              </a:rPr>
              <a:t>SysInit</a:t>
            </a:r>
            <a:r>
              <a:rPr lang="en-IN" dirty="0">
                <a:latin typeface="Consolas" panose="020B0609020204030204" pitchFamily="49" charset="0"/>
              </a:rPr>
              <a:t>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</a:t>
            </a:r>
            <a:r>
              <a:rPr lang="en-IN" dirty="0" err="1">
                <a:latin typeface="Consolas" panose="020B0609020204030204" pitchFamily="49" charset="0"/>
              </a:rPr>
              <a:t>SysInit</a:t>
            </a:r>
            <a:r>
              <a:rPr lang="en-IN" dirty="0">
                <a:latin typeface="Consolas" panose="020B0609020204030204" pitchFamily="49" charset="0"/>
              </a:rPr>
              <a:t>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Initialize all configured peripherals */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MX_GPIO_Init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r>
              <a:rPr lang="en-IN" b="1" dirty="0">
                <a:latin typeface="Consolas" panose="020B0609020204030204" pitchFamily="49" charset="0"/>
              </a:rPr>
              <a:t>MX_USART1_UART_Init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2 */</a:t>
            </a:r>
          </a:p>
          <a:p>
            <a:r>
              <a:rPr lang="en-IN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HAL_UART_Receive_IT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(&amp;huart1,&amp;rxData,1);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2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Infinite loop 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WHILE */</a:t>
            </a:r>
          </a:p>
          <a:p>
            <a:r>
              <a:rPr lang="en-IN" b="1" dirty="0">
                <a:latin typeface="Consolas" panose="020B0609020204030204" pitchFamily="49" charset="0"/>
              </a:rPr>
              <a:t>while</a:t>
            </a:r>
            <a:r>
              <a:rPr lang="en-IN" dirty="0">
                <a:latin typeface="Consolas" panose="020B0609020204030204" pitchFamily="49" charset="0"/>
              </a:rPr>
              <a:t> (1)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WHILE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3 */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3 */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/**</a:t>
            </a:r>
          </a:p>
          <a:p>
            <a:r>
              <a:rPr lang="en-IN" dirty="0">
                <a:latin typeface="Consolas" panose="020B0609020204030204" pitchFamily="49" charset="0"/>
              </a:rPr>
              <a:t>* @brief System Clock Configuration for STM32F0 (uses HSI48)</a:t>
            </a:r>
          </a:p>
          <a:p>
            <a:r>
              <a:rPr lang="en-IN" dirty="0">
                <a:latin typeface="Consolas" panose="020B0609020204030204" pitchFamily="49" charset="0"/>
              </a:rPr>
              <a:t>* This implementation is compatible with STM32F072 series.</a:t>
            </a:r>
          </a:p>
          <a:p>
            <a:r>
              <a:rPr lang="en-IN" dirty="0">
                <a:latin typeface="Consolas" panose="020B0609020204030204" pitchFamily="49" charset="0"/>
              </a:rPr>
              <a:t>*/</a:t>
            </a:r>
          </a:p>
          <a:p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 err="1">
                <a:latin typeface="Consolas" panose="020B0609020204030204" pitchFamily="49" charset="0"/>
              </a:rPr>
              <a:t>SystemClock_Config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RCC_OscInitTypeDef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latin typeface="Consolas" panose="020B0609020204030204" pitchFamily="49" charset="0"/>
              </a:rPr>
              <a:t>RCC_OscInitStruct</a:t>
            </a:r>
            <a:r>
              <a:rPr lang="en-IN" dirty="0">
                <a:latin typeface="Consolas" panose="020B0609020204030204" pitchFamily="49" charset="0"/>
              </a:rPr>
              <a:t> = {0};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RCC_ClkInitTypeDef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latin typeface="Consolas" panose="020B0609020204030204" pitchFamily="49" charset="0"/>
              </a:rPr>
              <a:t>RCC_ClkInitStruct</a:t>
            </a:r>
            <a:r>
              <a:rPr lang="en-IN" dirty="0">
                <a:latin typeface="Consolas" panose="020B0609020204030204" pitchFamily="49" charset="0"/>
              </a:rPr>
              <a:t> = {0};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RCC_PeriphCLKInitTypeDef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latin typeface="Consolas" panose="020B0609020204030204" pitchFamily="49" charset="0"/>
              </a:rPr>
              <a:t>PeriphClkInit</a:t>
            </a:r>
            <a:r>
              <a:rPr lang="en-IN" dirty="0">
                <a:latin typeface="Consolas" panose="020B0609020204030204" pitchFamily="49" charset="0"/>
              </a:rPr>
              <a:t> = {0};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Enable HSI48 oscillator */</a:t>
            </a:r>
          </a:p>
          <a:p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RCC_OscInitStruct.OscillatorType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= RCC_OSCILLATORTYPE_HSI48;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RCC_OscInitStruct.HSI48State = RCC_HSI48_ON;</a:t>
            </a:r>
          </a:p>
          <a:p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RCC_OscInitStruct.PLL.PLLState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= RCC_PLL_NONE;</a:t>
            </a:r>
            <a:r>
              <a:rPr lang="en-IN" dirty="0">
                <a:latin typeface="Consolas" panose="020B0609020204030204" pitchFamily="49" charset="0"/>
              </a:rPr>
              <a:t> /* no PLL here */</a:t>
            </a:r>
          </a:p>
          <a:p>
            <a:r>
              <a:rPr lang="en-IN" b="1" dirty="0"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(</a:t>
            </a:r>
            <a:r>
              <a:rPr lang="en-IN" b="1" dirty="0" err="1">
                <a:latin typeface="Consolas" panose="020B0609020204030204" pitchFamily="49" charset="0"/>
              </a:rPr>
              <a:t>HAL_RCC_OscConfig</a:t>
            </a:r>
            <a:r>
              <a:rPr lang="en-IN" dirty="0">
                <a:latin typeface="Consolas" panose="020B0609020204030204" pitchFamily="49" charset="0"/>
              </a:rPr>
              <a:t>(&amp;</a:t>
            </a:r>
            <a:r>
              <a:rPr lang="en-IN" dirty="0" err="1">
                <a:latin typeface="Consolas" panose="020B0609020204030204" pitchFamily="49" charset="0"/>
              </a:rPr>
              <a:t>RCC_OscInitStruct</a:t>
            </a:r>
            <a:r>
              <a:rPr lang="en-IN" dirty="0">
                <a:latin typeface="Consolas" panose="020B0609020204030204" pitchFamily="49" charset="0"/>
              </a:rPr>
              <a:t>) != </a:t>
            </a:r>
            <a:r>
              <a:rPr lang="en-IN" i="1" dirty="0">
                <a:latin typeface="Consolas" panose="020B0609020204030204" pitchFamily="49" charset="0"/>
              </a:rPr>
              <a:t>HAL_OK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Error_Handler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Select HSI48 as system clock source and configure the HCLK and PCLK1 clock dividers */</a:t>
            </a:r>
          </a:p>
          <a:p>
            <a:r>
              <a:rPr lang="en-IN" dirty="0" err="1">
                <a:latin typeface="Consolas" panose="020B0609020204030204" pitchFamily="49" charset="0"/>
              </a:rPr>
              <a:t>RCC_ClkInitStruct.ClockType</a:t>
            </a:r>
            <a:r>
              <a:rPr lang="en-IN" dirty="0">
                <a:latin typeface="Consolas" panose="020B0609020204030204" pitchFamily="49" charset="0"/>
              </a:rPr>
              <a:t> RCC_CLOCKTYPE_SYSCLK | RCC_CLOCKTYPE_HCLK | RCC_CLOCKTYPE_PCLK1;</a:t>
            </a:r>
          </a:p>
          <a:p>
            <a:r>
              <a:rPr lang="en-IN" dirty="0" err="1">
                <a:latin typeface="Consolas" panose="020B0609020204030204" pitchFamily="49" charset="0"/>
              </a:rPr>
              <a:t>RCC_ClkInitStruct.SYSCLKSource</a:t>
            </a:r>
            <a:r>
              <a:rPr lang="en-IN" dirty="0">
                <a:latin typeface="Consolas" panose="020B0609020204030204" pitchFamily="49" charset="0"/>
              </a:rPr>
              <a:t> = RCC_SYSCLKSOURCE_HSI48;</a:t>
            </a:r>
          </a:p>
          <a:p>
            <a:r>
              <a:rPr lang="en-IN" dirty="0" err="1">
                <a:latin typeface="Consolas" panose="020B0609020204030204" pitchFamily="49" charset="0"/>
              </a:rPr>
              <a:t>RCC_ClkInitStruct.AHBCLKDivider</a:t>
            </a:r>
            <a:r>
              <a:rPr lang="en-IN" dirty="0">
                <a:latin typeface="Consolas" panose="020B0609020204030204" pitchFamily="49" charset="0"/>
              </a:rPr>
              <a:t> = RCC_SYSCLK_DIV1; /* HCLK = SYSCLK */</a:t>
            </a:r>
          </a:p>
          <a:p>
            <a:r>
              <a:rPr lang="en-IN" dirty="0">
                <a:latin typeface="Consolas" panose="020B0609020204030204" pitchFamily="49" charset="0"/>
              </a:rPr>
              <a:t>RCC_ClkInitStruct.APB1CLKDivider = RCC_HCLK_DIV1; /* PCLK1 = HCLK */</a:t>
            </a:r>
          </a:p>
          <a:p>
            <a:r>
              <a:rPr lang="en-IN" b="1" dirty="0"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(</a:t>
            </a:r>
            <a:r>
              <a:rPr lang="en-IN" b="1" dirty="0" err="1">
                <a:latin typeface="Consolas" panose="020B0609020204030204" pitchFamily="49" charset="0"/>
              </a:rPr>
              <a:t>HAL_RCC_ClockConfig</a:t>
            </a:r>
            <a:r>
              <a:rPr lang="en-IN" dirty="0">
                <a:latin typeface="Consolas" panose="020B0609020204030204" pitchFamily="49" charset="0"/>
              </a:rPr>
              <a:t>(&amp;</a:t>
            </a:r>
            <a:r>
              <a:rPr lang="en-IN" dirty="0" err="1">
                <a:latin typeface="Consolas" panose="020B0609020204030204" pitchFamily="49" charset="0"/>
              </a:rPr>
              <a:t>RCC_ClkInitStruct</a:t>
            </a:r>
            <a:r>
              <a:rPr lang="en-IN" dirty="0">
                <a:latin typeface="Consolas" panose="020B0609020204030204" pitchFamily="49" charset="0"/>
              </a:rPr>
              <a:t>, FLASH_LATENCY_1) != </a:t>
            </a:r>
            <a:r>
              <a:rPr lang="en-IN" i="1" dirty="0">
                <a:latin typeface="Consolas" panose="020B0609020204030204" pitchFamily="49" charset="0"/>
              </a:rPr>
              <a:t>HAL_OK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Error_Handler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Configure peripheral clocks (USART1/USART2 on PCLK1) */</a:t>
            </a:r>
          </a:p>
          <a:p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PeriphClkInit.PeriphClockSelection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= RCC_PERIPHCLK_USART1 | RCC_PERIPHCLK_USART2;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PeriphClkInit.Usart1ClockSelection = RCC_USART1CLKSOURCE_PCLK1;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PeriphClkInit.Usart2ClockSelection = RCC_USART2CLKSOURCE_PCLK1;</a:t>
            </a:r>
          </a:p>
          <a:p>
            <a:r>
              <a:rPr lang="en-IN" b="1" dirty="0"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(</a:t>
            </a:r>
            <a:r>
              <a:rPr lang="en-IN" b="1" dirty="0" err="1">
                <a:latin typeface="Consolas" panose="020B0609020204030204" pitchFamily="49" charset="0"/>
              </a:rPr>
              <a:t>HAL_RCCEx_PeriphCLKConfig</a:t>
            </a:r>
            <a:r>
              <a:rPr lang="en-IN" dirty="0">
                <a:latin typeface="Consolas" panose="020B0609020204030204" pitchFamily="49" charset="0"/>
              </a:rPr>
              <a:t>(&amp;</a:t>
            </a:r>
            <a:r>
              <a:rPr lang="en-IN" dirty="0" err="1">
                <a:latin typeface="Consolas" panose="020B0609020204030204" pitchFamily="49" charset="0"/>
              </a:rPr>
              <a:t>PeriphClkInit</a:t>
            </a:r>
            <a:r>
              <a:rPr lang="en-IN" dirty="0">
                <a:latin typeface="Consolas" panose="020B0609020204030204" pitchFamily="49" charset="0"/>
              </a:rPr>
              <a:t>) != </a:t>
            </a:r>
            <a:r>
              <a:rPr lang="en-IN" i="1" dirty="0">
                <a:latin typeface="Consolas" panose="020B0609020204030204" pitchFamily="49" charset="0"/>
              </a:rPr>
              <a:t>HAL_OK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Error_Handler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latin typeface="Consolas" panose="020B0609020204030204" pitchFamily="49" charset="0"/>
              </a:rPr>
              <a:t>/**</a:t>
            </a:r>
          </a:p>
          <a:p>
            <a:r>
              <a:rPr lang="en-IN" dirty="0">
                <a:latin typeface="Consolas" panose="020B0609020204030204" pitchFamily="49" charset="0"/>
              </a:rPr>
              <a:t>* @brief USART1 Initialization Function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param</a:t>
            </a:r>
            <a:r>
              <a:rPr lang="en-IN" dirty="0">
                <a:latin typeface="Consolas" panose="020B0609020204030204" pitchFamily="49" charset="0"/>
              </a:rPr>
              <a:t> None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retval</a:t>
            </a:r>
            <a:r>
              <a:rPr lang="en-IN" dirty="0">
                <a:latin typeface="Consolas" panose="020B0609020204030204" pitchFamily="49" charset="0"/>
              </a:rPr>
              <a:t> None</a:t>
            </a:r>
          </a:p>
          <a:p>
            <a:r>
              <a:rPr lang="en-IN" dirty="0">
                <a:latin typeface="Consolas" panose="020B0609020204030204" pitchFamily="49" charset="0"/>
              </a:rPr>
              <a:t>*/</a:t>
            </a:r>
          </a:p>
          <a:p>
            <a:r>
              <a:rPr lang="en-IN" b="1" dirty="0">
                <a:latin typeface="Consolas" panose="020B0609020204030204" pitchFamily="49" charset="0"/>
              </a:rPr>
              <a:t>static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</a:rPr>
              <a:t>MX_USART1_UART_Init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USART1_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0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USART1_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0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USART1_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1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USART1_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1 */</a:t>
            </a:r>
          </a:p>
          <a:p>
            <a:r>
              <a:rPr lang="en-IN" dirty="0">
                <a:latin typeface="Consolas" panose="020B0609020204030204" pitchFamily="49" charset="0"/>
              </a:rPr>
              <a:t>huart1.Instance = USART1;</a:t>
            </a:r>
          </a:p>
          <a:p>
            <a:r>
              <a:rPr lang="en-IN" dirty="0">
                <a:latin typeface="Consolas" panose="020B0609020204030204" pitchFamily="49" charset="0"/>
              </a:rPr>
              <a:t>huart1.Init.BaudRate = 9600;</a:t>
            </a:r>
          </a:p>
          <a:p>
            <a:r>
              <a:rPr lang="en-IN" dirty="0">
                <a:latin typeface="Consolas" panose="020B0609020204030204" pitchFamily="49" charset="0"/>
              </a:rPr>
              <a:t>huart1.Init.WordLength = UART_WORDLENGTH_8B;</a:t>
            </a:r>
          </a:p>
          <a:p>
            <a:r>
              <a:rPr lang="en-IN" dirty="0">
                <a:latin typeface="Consolas" panose="020B0609020204030204" pitchFamily="49" charset="0"/>
              </a:rPr>
              <a:t>huart1.Init.StopBits = UART_STOPBITS_1;</a:t>
            </a:r>
          </a:p>
          <a:p>
            <a:r>
              <a:rPr lang="en-IN" dirty="0">
                <a:latin typeface="Consolas" panose="020B0609020204030204" pitchFamily="49" charset="0"/>
              </a:rPr>
              <a:t>huart1.Init.Parity = UART_PARITY_NONE;</a:t>
            </a:r>
          </a:p>
          <a:p>
            <a:r>
              <a:rPr lang="en-IN" dirty="0">
                <a:latin typeface="Consolas" panose="020B0609020204030204" pitchFamily="49" charset="0"/>
              </a:rPr>
              <a:t>huart1.Init.Mode = UART_MODE_TX_RX;</a:t>
            </a:r>
          </a:p>
          <a:p>
            <a:r>
              <a:rPr lang="en-IN" dirty="0">
                <a:latin typeface="Consolas" panose="020B0609020204030204" pitchFamily="49" charset="0"/>
              </a:rPr>
              <a:t>huart1.Init.HwFlowCtl = UART_HWCONTROL_NONE;</a:t>
            </a:r>
          </a:p>
          <a:p>
            <a:r>
              <a:rPr lang="en-IN" dirty="0">
                <a:latin typeface="Consolas" panose="020B0609020204030204" pitchFamily="49" charset="0"/>
              </a:rPr>
              <a:t>huart1.Init.OverSampling = UART_OVERSAMPLING_16;</a:t>
            </a:r>
          </a:p>
          <a:p>
            <a:r>
              <a:rPr lang="en-IN" b="1" dirty="0"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(</a:t>
            </a:r>
            <a:r>
              <a:rPr lang="en-IN" b="1" dirty="0" err="1">
                <a:latin typeface="Consolas" panose="020B0609020204030204" pitchFamily="49" charset="0"/>
              </a:rPr>
              <a:t>HAL_UART_Init</a:t>
            </a:r>
            <a:r>
              <a:rPr lang="en-IN" dirty="0">
                <a:latin typeface="Consolas" panose="020B0609020204030204" pitchFamily="49" charset="0"/>
              </a:rPr>
              <a:t>(&amp;huart1) != </a:t>
            </a:r>
            <a:r>
              <a:rPr lang="en-IN" i="1" dirty="0">
                <a:latin typeface="Consolas" panose="020B0609020204030204" pitchFamily="49" charset="0"/>
              </a:rPr>
              <a:t>HAL_OK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Error_Handler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USART1_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2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END USART1_</a:t>
            </a:r>
            <a:r>
              <a:rPr lang="en-IN" u="sng" dirty="0">
                <a:latin typeface="Consolas" panose="020B0609020204030204" pitchFamily="49" charset="0"/>
              </a:rPr>
              <a:t>Init</a:t>
            </a:r>
            <a:r>
              <a:rPr lang="en-IN" dirty="0">
                <a:latin typeface="Consolas" panose="020B0609020204030204" pitchFamily="49" charset="0"/>
              </a:rPr>
              <a:t> 2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/**</a:t>
            </a:r>
          </a:p>
          <a:p>
            <a:r>
              <a:rPr lang="en-IN" dirty="0">
                <a:latin typeface="Consolas" panose="020B0609020204030204" pitchFamily="49" charset="0"/>
              </a:rPr>
              <a:t>* @brief GPIO Initialization Function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param</a:t>
            </a:r>
            <a:r>
              <a:rPr lang="en-IN" dirty="0">
                <a:latin typeface="Consolas" panose="020B0609020204030204" pitchFamily="49" charset="0"/>
              </a:rPr>
              <a:t> None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retval</a:t>
            </a:r>
            <a:r>
              <a:rPr lang="en-IN" dirty="0">
                <a:latin typeface="Consolas" panose="020B0609020204030204" pitchFamily="49" charset="0"/>
              </a:rPr>
              <a:t> None</a:t>
            </a:r>
          </a:p>
          <a:p>
            <a:r>
              <a:rPr lang="en-IN" dirty="0">
                <a:latin typeface="Consolas" panose="020B0609020204030204" pitchFamily="49" charset="0"/>
              </a:rPr>
              <a:t>*/</a:t>
            </a:r>
          </a:p>
          <a:p>
            <a:r>
              <a:rPr lang="en-IN" b="1" dirty="0">
                <a:latin typeface="Consolas" panose="020B0609020204030204" pitchFamily="49" charset="0"/>
              </a:rPr>
              <a:t>static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 err="1">
                <a:latin typeface="Consolas" panose="020B0609020204030204" pitchFamily="49" charset="0"/>
              </a:rPr>
              <a:t>MX_GPIO_Init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GPIO_InitTypeDef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latin typeface="Consolas" panose="020B0609020204030204" pitchFamily="49" charset="0"/>
              </a:rPr>
              <a:t>GPIO_InitStruct</a:t>
            </a:r>
            <a:r>
              <a:rPr lang="en-IN" dirty="0">
                <a:latin typeface="Consolas" panose="020B0609020204030204" pitchFamily="49" charset="0"/>
              </a:rPr>
              <a:t> = {0};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MX_GPIO_Init_1 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MX_GPIO_Init_1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GPIO Ports Clock Enable */</a:t>
            </a:r>
          </a:p>
          <a:p>
            <a:r>
              <a:rPr lang="en-IN" dirty="0">
                <a:latin typeface="Consolas" panose="020B0609020204030204" pitchFamily="49" charset="0"/>
              </a:rPr>
              <a:t>__HAL_RCC_GPIOD_CLK_ENABLE();</a:t>
            </a:r>
          </a:p>
          <a:p>
            <a:r>
              <a:rPr lang="en-IN" dirty="0">
                <a:latin typeface="Consolas" panose="020B0609020204030204" pitchFamily="49" charset="0"/>
              </a:rPr>
              <a:t>__HAL_RCC_GPIOA_CLK_ENABLE();</a:t>
            </a:r>
          </a:p>
          <a:p>
            <a:r>
              <a:rPr lang="en-IN" dirty="0">
                <a:latin typeface="Consolas" panose="020B0609020204030204" pitchFamily="49" charset="0"/>
              </a:rPr>
              <a:t>__HAL_RCC_GPIOB_CLK_ENABLE();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/*Configure GPIO pin Output Level */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HAL_GPIO_WritePin</a:t>
            </a:r>
            <a:r>
              <a:rPr lang="en-IN" dirty="0">
                <a:latin typeface="Consolas" panose="020B0609020204030204" pitchFamily="49" charset="0"/>
              </a:rPr>
              <a:t>(LD2_GPIO_Port, LD2_Pin, </a:t>
            </a:r>
            <a:r>
              <a:rPr lang="en-IN" i="1" dirty="0">
                <a:latin typeface="Consolas" panose="020B0609020204030204" pitchFamily="49" charset="0"/>
              </a:rPr>
              <a:t>GPIO_PIN_RESET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/*Configure GPIO pin : LD2_Pin */</a:t>
            </a:r>
          </a:p>
          <a:p>
            <a:r>
              <a:rPr lang="en-IN" dirty="0" err="1">
                <a:latin typeface="Consolas" panose="020B0609020204030204" pitchFamily="49" charset="0"/>
              </a:rPr>
              <a:t>GPIO_InitStruct.Pin</a:t>
            </a:r>
            <a:r>
              <a:rPr lang="en-IN" dirty="0">
                <a:latin typeface="Consolas" panose="020B0609020204030204" pitchFamily="49" charset="0"/>
              </a:rPr>
              <a:t> = LD2_Pin;</a:t>
            </a:r>
          </a:p>
          <a:p>
            <a:r>
              <a:rPr lang="en-IN" dirty="0" err="1">
                <a:latin typeface="Consolas" panose="020B0609020204030204" pitchFamily="49" charset="0"/>
              </a:rPr>
              <a:t>GPIO_InitStruct.Mode</a:t>
            </a:r>
            <a:r>
              <a:rPr lang="en-IN" dirty="0">
                <a:latin typeface="Consolas" panose="020B0609020204030204" pitchFamily="49" charset="0"/>
              </a:rPr>
              <a:t> = GPIO_MODE_OUTPUT_PP;</a:t>
            </a:r>
          </a:p>
          <a:p>
            <a:r>
              <a:rPr lang="en-IN" dirty="0" err="1">
                <a:latin typeface="Consolas" panose="020B0609020204030204" pitchFamily="49" charset="0"/>
              </a:rPr>
              <a:t>GPIO_InitStruct.Pull</a:t>
            </a:r>
            <a:r>
              <a:rPr lang="en-IN" dirty="0">
                <a:latin typeface="Consolas" panose="020B0609020204030204" pitchFamily="49" charset="0"/>
              </a:rPr>
              <a:t> = GPIO_NOPULL;</a:t>
            </a:r>
          </a:p>
          <a:p>
            <a:r>
              <a:rPr lang="en-IN" dirty="0" err="1">
                <a:latin typeface="Consolas" panose="020B0609020204030204" pitchFamily="49" charset="0"/>
              </a:rPr>
              <a:t>GPIO_InitStruct.Speed</a:t>
            </a:r>
            <a:r>
              <a:rPr lang="en-IN" dirty="0">
                <a:latin typeface="Consolas" panose="020B0609020204030204" pitchFamily="49" charset="0"/>
              </a:rPr>
              <a:t> = GPIO_SPEED_FREQ_LOW;</a:t>
            </a:r>
          </a:p>
          <a:p>
            <a:r>
              <a:rPr lang="en-IN" b="1" dirty="0" err="1">
                <a:latin typeface="Consolas" panose="020B0609020204030204" pitchFamily="49" charset="0"/>
              </a:rPr>
              <a:t>HAL_GPIO_Init</a:t>
            </a:r>
            <a:r>
              <a:rPr lang="en-IN" dirty="0">
                <a:latin typeface="Consolas" panose="020B0609020204030204" pitchFamily="49" charset="0"/>
              </a:rPr>
              <a:t>(LD2_GPIO_Port, &amp;</a:t>
            </a:r>
            <a:r>
              <a:rPr lang="en-IN" dirty="0" err="1">
                <a:latin typeface="Consolas" panose="020B0609020204030204" pitchFamily="49" charset="0"/>
              </a:rPr>
              <a:t>GPIO_InitStruct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MX_GPIO_Init_2 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MX_GPIO_Init_2 */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 USER CODE BEGIN 4 */</a:t>
            </a:r>
          </a:p>
          <a:p>
            <a:r>
              <a:rPr lang="en-IN" b="1" dirty="0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HAL_UART_RxCpltCallback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UART_HandleTypeDef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*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huart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b="1" dirty="0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huart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-&gt;Instance==USART1)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b="1" dirty="0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rxData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==79) // </a:t>
            </a:r>
            <a:r>
              <a:rPr lang="en-IN" u="sng" dirty="0">
                <a:highlight>
                  <a:srgbClr val="FFFF00"/>
                </a:highlight>
                <a:latin typeface="Consolas" panose="020B0609020204030204" pitchFamily="49" charset="0"/>
              </a:rPr>
              <a:t>Ascii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value of 'O' is 79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HAL_GPIO_WritePin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(GPIOA, GPIO_PIN_5, 1);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b="1" dirty="0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1" dirty="0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en-IN" dirty="0" err="1">
                <a:highlight>
                  <a:srgbClr val="FFFF00"/>
                </a:highlight>
                <a:latin typeface="Consolas" panose="020B0609020204030204" pitchFamily="49" charset="0"/>
              </a:rPr>
              <a:t>rxData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==88) // </a:t>
            </a:r>
            <a:r>
              <a:rPr lang="en-IN" u="sng" dirty="0">
                <a:highlight>
                  <a:srgbClr val="FFFF00"/>
                </a:highlight>
                <a:latin typeface="Consolas" panose="020B0609020204030204" pitchFamily="49" charset="0"/>
              </a:rPr>
              <a:t>Ascii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 value of 'X' is 88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HAL_GPIO_WritePin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(GPIOA, GPIO_PIN_5, 0);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HAL_UART_Receive_IT</a:t>
            </a:r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(&amp;huart1,&amp;rxData,1); // Enabling interrupt receive again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4 */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dirty="0">
                <a:latin typeface="Consolas" panose="020B0609020204030204" pitchFamily="49" charset="0"/>
              </a:rPr>
              <a:t>/**</a:t>
            </a:r>
          </a:p>
          <a:p>
            <a:r>
              <a:rPr lang="en-IN" dirty="0">
                <a:latin typeface="Consolas" panose="020B0609020204030204" pitchFamily="49" charset="0"/>
              </a:rPr>
              <a:t>* @brief This function is executed in case of error occurrence.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retval</a:t>
            </a:r>
            <a:r>
              <a:rPr lang="en-IN" dirty="0">
                <a:latin typeface="Consolas" panose="020B0609020204030204" pitchFamily="49" charset="0"/>
              </a:rPr>
              <a:t> None</a:t>
            </a:r>
          </a:p>
          <a:p>
            <a:r>
              <a:rPr lang="en-IN" dirty="0">
                <a:latin typeface="Consolas" panose="020B0609020204030204" pitchFamily="49" charset="0"/>
              </a:rPr>
              <a:t>*/</a:t>
            </a:r>
          </a:p>
          <a:p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b="1" dirty="0" err="1">
                <a:latin typeface="Consolas" panose="020B0609020204030204" pitchFamily="49" charset="0"/>
              </a:rPr>
              <a:t>Error_Handler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</a:t>
            </a:r>
            <a:r>
              <a:rPr lang="en-IN" dirty="0" err="1">
                <a:latin typeface="Consolas" panose="020B0609020204030204" pitchFamily="49" charset="0"/>
              </a:rPr>
              <a:t>Error_Handler_Debug</a:t>
            </a:r>
            <a:r>
              <a:rPr lang="en-IN" dirty="0">
                <a:latin typeface="Consolas" panose="020B0609020204030204" pitchFamily="49" charset="0"/>
              </a:rPr>
              <a:t> 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can add his own implementation to report the HAL error return state */</a:t>
            </a:r>
          </a:p>
          <a:p>
            <a:r>
              <a:rPr lang="en-IN" b="1" dirty="0">
                <a:latin typeface="Consolas" panose="020B0609020204030204" pitchFamily="49" charset="0"/>
              </a:rPr>
              <a:t>__</a:t>
            </a:r>
            <a:r>
              <a:rPr lang="en-IN" b="1" dirty="0" err="1">
                <a:latin typeface="Consolas" panose="020B0609020204030204" pitchFamily="49" charset="0"/>
              </a:rPr>
              <a:t>disable_irq</a:t>
            </a:r>
            <a:r>
              <a:rPr lang="en-IN" dirty="0">
                <a:latin typeface="Consolas" panose="020B0609020204030204" pitchFamily="49" charset="0"/>
              </a:rPr>
              <a:t>();</a:t>
            </a:r>
          </a:p>
          <a:p>
            <a:r>
              <a:rPr lang="en-IN" b="1" dirty="0">
                <a:latin typeface="Consolas" panose="020B0609020204030204" pitchFamily="49" charset="0"/>
              </a:rPr>
              <a:t>while</a:t>
            </a:r>
            <a:r>
              <a:rPr lang="en-IN" dirty="0">
                <a:latin typeface="Consolas" panose="020B0609020204030204" pitchFamily="49" charset="0"/>
              </a:rPr>
              <a:t> (1)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</a:t>
            </a:r>
            <a:r>
              <a:rPr lang="en-IN" dirty="0" err="1">
                <a:latin typeface="Consolas" panose="020B0609020204030204" pitchFamily="49" charset="0"/>
              </a:rPr>
              <a:t>Error_Handler_Debug</a:t>
            </a:r>
            <a:r>
              <a:rPr lang="en-IN" dirty="0">
                <a:latin typeface="Consolas" panose="020B0609020204030204" pitchFamily="49" charset="0"/>
              </a:rPr>
              <a:t> */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latin typeface="Consolas" panose="020B0609020204030204" pitchFamily="49" charset="0"/>
              </a:rPr>
            </a:br>
            <a:endParaRPr lang="en-IN" dirty="0">
              <a:latin typeface="Consolas" panose="020B0609020204030204" pitchFamily="49" charset="0"/>
            </a:endParaRPr>
          </a:p>
          <a:p>
            <a:r>
              <a:rPr lang="en-IN" b="1" dirty="0">
                <a:latin typeface="Consolas" panose="020B0609020204030204" pitchFamily="49" charset="0"/>
              </a:rPr>
              <a:t>#ifdef</a:t>
            </a:r>
            <a:r>
              <a:rPr lang="en-IN" dirty="0">
                <a:latin typeface="Consolas" panose="020B0609020204030204" pitchFamily="49" charset="0"/>
              </a:rPr>
              <a:t> USE_FULL_ASSERT</a:t>
            </a:r>
          </a:p>
          <a:p>
            <a:r>
              <a:rPr lang="en-IN" dirty="0">
                <a:latin typeface="Consolas" panose="020B0609020204030204" pitchFamily="49" charset="0"/>
              </a:rPr>
              <a:t>/**</a:t>
            </a:r>
          </a:p>
          <a:p>
            <a:r>
              <a:rPr lang="en-IN" dirty="0">
                <a:latin typeface="Consolas" panose="020B0609020204030204" pitchFamily="49" charset="0"/>
              </a:rPr>
              <a:t>* @brief Reports the name of the source file and the source line number</a:t>
            </a:r>
          </a:p>
          <a:p>
            <a:r>
              <a:rPr lang="en-IN" dirty="0">
                <a:latin typeface="Consolas" panose="020B0609020204030204" pitchFamily="49" charset="0"/>
              </a:rPr>
              <a:t>* where the </a:t>
            </a:r>
            <a:r>
              <a:rPr lang="en-IN" dirty="0" err="1">
                <a:latin typeface="Consolas" panose="020B0609020204030204" pitchFamily="49" charset="0"/>
              </a:rPr>
              <a:t>assert_param</a:t>
            </a:r>
            <a:r>
              <a:rPr lang="en-IN" dirty="0">
                <a:latin typeface="Consolas" panose="020B0609020204030204" pitchFamily="49" charset="0"/>
              </a:rPr>
              <a:t> error has occurred.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param</a:t>
            </a:r>
            <a:r>
              <a:rPr lang="en-IN" dirty="0">
                <a:latin typeface="Consolas" panose="020B0609020204030204" pitchFamily="49" charset="0"/>
              </a:rPr>
              <a:t> file: pointer to the source file name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param</a:t>
            </a:r>
            <a:r>
              <a:rPr lang="en-IN" dirty="0">
                <a:latin typeface="Consolas" panose="020B0609020204030204" pitchFamily="49" charset="0"/>
              </a:rPr>
              <a:t> line: </a:t>
            </a:r>
            <a:r>
              <a:rPr lang="en-IN" dirty="0" err="1">
                <a:latin typeface="Consolas" panose="020B0609020204030204" pitchFamily="49" charset="0"/>
              </a:rPr>
              <a:t>assert_param</a:t>
            </a:r>
            <a:r>
              <a:rPr lang="en-IN" dirty="0">
                <a:latin typeface="Consolas" panose="020B0609020204030204" pitchFamily="49" charset="0"/>
              </a:rPr>
              <a:t> error line source number</a:t>
            </a:r>
          </a:p>
          <a:p>
            <a:r>
              <a:rPr lang="en-IN" dirty="0">
                <a:latin typeface="Consolas" panose="020B0609020204030204" pitchFamily="49" charset="0"/>
              </a:rPr>
              <a:t>* @</a:t>
            </a:r>
            <a:r>
              <a:rPr lang="en-IN" u="sng" dirty="0">
                <a:latin typeface="Consolas" panose="020B0609020204030204" pitchFamily="49" charset="0"/>
              </a:rPr>
              <a:t>retval</a:t>
            </a:r>
            <a:r>
              <a:rPr lang="en-IN" dirty="0">
                <a:latin typeface="Consolas" panose="020B0609020204030204" pitchFamily="49" charset="0"/>
              </a:rPr>
              <a:t> None</a:t>
            </a:r>
          </a:p>
          <a:p>
            <a:r>
              <a:rPr lang="en-IN" dirty="0">
                <a:latin typeface="Consolas" panose="020B0609020204030204" pitchFamily="49" charset="0"/>
              </a:rPr>
              <a:t>*/</a:t>
            </a:r>
          </a:p>
          <a:p>
            <a:r>
              <a:rPr lang="en-IN" b="1" dirty="0">
                <a:latin typeface="Consolas" panose="020B0609020204030204" pitchFamily="49" charset="0"/>
              </a:rPr>
              <a:t>void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latin typeface="Consolas" panose="020B0609020204030204" pitchFamily="49" charset="0"/>
              </a:rPr>
              <a:t>assert_failed</a:t>
            </a:r>
            <a:r>
              <a:rPr lang="en-IN" dirty="0">
                <a:latin typeface="Consolas" panose="020B0609020204030204" pitchFamily="49" charset="0"/>
              </a:rPr>
              <a:t>(uint8_t *file, uint32_t line)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BEGIN 6 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can add his own implementation to report the file name and line number,</a:t>
            </a:r>
          </a:p>
          <a:p>
            <a:r>
              <a:rPr lang="en-IN" u="sng" dirty="0">
                <a:latin typeface="Consolas" panose="020B0609020204030204" pitchFamily="49" charset="0"/>
              </a:rPr>
              <a:t>ex</a:t>
            </a:r>
            <a:r>
              <a:rPr lang="en-IN" dirty="0">
                <a:latin typeface="Consolas" panose="020B0609020204030204" pitchFamily="49" charset="0"/>
              </a:rPr>
              <a:t>: </a:t>
            </a:r>
            <a:r>
              <a:rPr lang="en-IN" u="sng" dirty="0" err="1"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("Wrong parameters value: file %s on line %d\r\n", file, line) */</a:t>
            </a:r>
          </a:p>
          <a:p>
            <a:r>
              <a:rPr lang="en-IN" dirty="0">
                <a:latin typeface="Consolas" panose="020B0609020204030204" pitchFamily="49" charset="0"/>
              </a:rPr>
              <a:t>/* USER CODE END 6 */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  <a:p>
            <a:r>
              <a:rPr lang="en-IN" b="1" dirty="0">
                <a:latin typeface="Consolas" panose="020B0609020204030204" pitchFamily="49" charset="0"/>
              </a:rPr>
              <a:t>#endif</a:t>
            </a:r>
            <a:r>
              <a:rPr lang="en-IN" dirty="0">
                <a:latin typeface="Consolas" panose="020B0609020204030204" pitchFamily="49" charset="0"/>
              </a:rPr>
              <a:t> /* USE_FULL_ASSERT */</a:t>
            </a:r>
          </a:p>
        </p:txBody>
      </p:sp>
    </p:spTree>
    <p:extLst>
      <p:ext uri="{BB962C8B-B14F-4D97-AF65-F5344CB8AC3E}">
        <p14:creationId xmlns:p14="http://schemas.microsoft.com/office/powerpoint/2010/main" val="1640217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057D7-BA08-5E15-381D-4A0FFF46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7D700A9-E278-13FA-92D5-E1BC08D439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FAEFB840-4EBC-A243-6F1E-8074A945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01505689-2F3B-C0BE-30BC-508663F5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D0784A-6AC6-9D6D-6BAC-C35698355AD8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DB3B7D-C810-4103-EC93-FB3CAC74D651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DB3B7D-C810-4103-EC93-FB3CAC74D6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F2C0C0-595C-3548-C2A1-A5F64BBE9D35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F2C0C0-595C-3548-C2A1-A5F64BBE9D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3D80464-F220-AD61-9617-8A925EA9DF33}"/>
              </a:ext>
            </a:extLst>
          </p:cNvPr>
          <p:cNvSpPr txBox="1"/>
          <p:nvPr/>
        </p:nvSpPr>
        <p:spPr>
          <a:xfrm>
            <a:off x="1781088" y="1463446"/>
            <a:ext cx="855347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lang="en-IN" sz="3200" b="1" dirty="0">
                <a:solidFill>
                  <a:srgbClr val="363940"/>
                </a:solidFill>
                <a:latin typeface="Bell MT" panose="02020503060305020303" pitchFamily="18" charset="0"/>
              </a:rPr>
              <a:t>Preparing Bluetooth terminal application</a:t>
            </a:r>
          </a:p>
          <a:p>
            <a:pPr marL="457200" indent="-457200">
              <a:spcAft>
                <a:spcPts val="150"/>
              </a:spcAft>
              <a:buFont typeface="Wingdings" panose="05000000000000000000" pitchFamily="2" charset="2"/>
              <a:buChar char="Ø"/>
            </a:pPr>
            <a:endParaRPr lang="en-IN" sz="3200" b="1" dirty="0">
              <a:solidFill>
                <a:srgbClr val="363940"/>
              </a:solidFill>
              <a:latin typeface="Bell MT" panose="020205030603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ell MT" panose="02020503060305020303" pitchFamily="18" charset="0"/>
              </a:rPr>
              <a:t>Go to the </a:t>
            </a:r>
            <a:r>
              <a:rPr lang="en-US" b="1" dirty="0">
                <a:latin typeface="Bell MT" panose="02020503060305020303" pitchFamily="18" charset="0"/>
              </a:rPr>
              <a:t>google play store</a:t>
            </a:r>
            <a:r>
              <a:rPr lang="en-US" dirty="0">
                <a:latin typeface="Bell MT" panose="02020503060305020303" pitchFamily="18" charset="0"/>
              </a:rPr>
              <a:t> and search </a:t>
            </a:r>
            <a:r>
              <a:rPr lang="en-US" b="1" dirty="0">
                <a:latin typeface="Bell MT" panose="02020503060305020303" pitchFamily="18" charset="0"/>
              </a:rPr>
              <a:t>“Bluetooth Terminal”</a:t>
            </a:r>
            <a:r>
              <a:rPr lang="en-US" dirty="0">
                <a:latin typeface="Bell MT" panose="02020503060305020303" pitchFamily="18" charset="0"/>
              </a:rPr>
              <a:t> select the application shown below and install. After install the application open it.</a:t>
            </a:r>
            <a:endParaRPr lang="en-IN" sz="3200" b="1" dirty="0">
              <a:solidFill>
                <a:srgbClr val="363940"/>
              </a:solidFill>
              <a:latin typeface="Bell MT" panose="02020503060305020303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E42E977-5536-1C7A-1A2A-994A78D9D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373" y="3652944"/>
            <a:ext cx="2464920" cy="247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613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EA9A-A45B-426F-323A-98B6C4FF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B20BD13-829E-8F27-1E36-406F57259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159E987B-9C41-890E-A9C6-7B505A24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453A177F-8A17-9919-B46B-8026757A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66965C-A5D4-0AC4-4DA5-86D269E3FDE8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965B5A-FCAD-94E8-23FB-5C3D59A569F9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965B5A-FCAD-94E8-23FB-5C3D59A569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FE3DF1-7589-046F-7795-64120501B01A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FE3DF1-7589-046F-7795-64120501B0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0F48BBE-F138-A8A1-D6A7-6AB6E682927E}"/>
              </a:ext>
            </a:extLst>
          </p:cNvPr>
          <p:cNvSpPr txBox="1"/>
          <p:nvPr/>
        </p:nvSpPr>
        <p:spPr>
          <a:xfrm>
            <a:off x="1781088" y="1372215"/>
            <a:ext cx="86298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ell MT" panose="02020503060305020303" pitchFamily="18" charset="0"/>
              </a:rPr>
              <a:t>Turn on Bluetooth on your mobile phone. Then open the available devices list—your device should appear there. Select it and connect using the default PIN, either </a:t>
            </a:r>
            <a:r>
              <a:rPr lang="en-US" sz="2400" b="1" dirty="0">
                <a:latin typeface="Bell MT" panose="02020503060305020303" pitchFamily="18" charset="0"/>
              </a:rPr>
              <a:t>‘0000’</a:t>
            </a:r>
            <a:r>
              <a:rPr lang="en-US" sz="2400" dirty="0">
                <a:latin typeface="Bell MT" panose="02020503060305020303" pitchFamily="18" charset="0"/>
              </a:rPr>
              <a:t> or </a:t>
            </a:r>
            <a:r>
              <a:rPr lang="en-US" sz="2400" b="1" dirty="0">
                <a:latin typeface="Bell MT" panose="02020503060305020303" pitchFamily="18" charset="0"/>
              </a:rPr>
              <a:t>‘1234’.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ell MT" panose="02020503060305020303" pitchFamily="18" charset="0"/>
              </a:rPr>
              <a:t>After that open Serial Bluetooth Terminal app.</a:t>
            </a:r>
            <a:endParaRPr lang="en-IN" sz="2400" dirty="0">
              <a:latin typeface="Bell MT" panose="02020503060305020303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F248E14-DAD6-3C0F-C4E0-2F453BBFF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019" y="3000027"/>
            <a:ext cx="3112720" cy="313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94187AAD-06B7-8FF8-31AD-CF67119A6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012" y="3000027"/>
            <a:ext cx="2120508" cy="313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519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3C472-2DB9-6968-DF70-A1B371E6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45FA508-1E41-B964-0962-D35178D48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DAC7D21A-8962-0D9E-65B5-C2A81D46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5DD08260-A246-87AB-6C1C-B4F2EB74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38CFDB-2ED7-AC94-179F-972C0C43CAB5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5964F1-6492-60A4-F019-567320E5239D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5964F1-6492-60A4-F019-567320E523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02B448A-ECC6-E551-F356-617E98D5D025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02B448A-ECC6-E551-F356-617E98D5D0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C4F4393-32F2-5C73-3F00-81A204A6EF5F}"/>
              </a:ext>
            </a:extLst>
          </p:cNvPr>
          <p:cNvSpPr txBox="1"/>
          <p:nvPr/>
        </p:nvSpPr>
        <p:spPr>
          <a:xfrm>
            <a:off x="1781088" y="1288288"/>
            <a:ext cx="86775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Bell MT" panose="02020503060305020303" pitchFamily="18" charset="0"/>
              </a:rPr>
              <a:t>Go to the Devices. If your Bluetooth module is HC-05, it will appear under “Bluetooth </a:t>
            </a:r>
            <a:r>
              <a:rPr lang="en-US" sz="2400" dirty="0" err="1">
                <a:latin typeface="Bell MT" panose="02020503060305020303" pitchFamily="18" charset="0"/>
              </a:rPr>
              <a:t>Classic”.If</a:t>
            </a:r>
            <a:r>
              <a:rPr lang="en-US" sz="2400" dirty="0">
                <a:latin typeface="Bell MT" panose="02020503060305020303" pitchFamily="18" charset="0"/>
              </a:rPr>
              <a:t> it is HM-10, it will appear under “</a:t>
            </a:r>
            <a:r>
              <a:rPr lang="en-US" sz="2400" dirty="0" err="1">
                <a:latin typeface="Bell MT" panose="02020503060305020303" pitchFamily="18" charset="0"/>
              </a:rPr>
              <a:t>BLE.”Select</a:t>
            </a:r>
            <a:r>
              <a:rPr lang="en-US" sz="2400" dirty="0">
                <a:latin typeface="Bell MT" panose="02020503060305020303" pitchFamily="18" charset="0"/>
              </a:rPr>
              <a:t> your device to </a:t>
            </a:r>
            <a:r>
              <a:rPr lang="en-US" sz="2400" dirty="0" err="1">
                <a:latin typeface="Bell MT" panose="02020503060305020303" pitchFamily="18" charset="0"/>
              </a:rPr>
              <a:t>connect.If</a:t>
            </a:r>
            <a:r>
              <a:rPr lang="en-US" sz="2400" dirty="0">
                <a:latin typeface="Bell MT" panose="02020503060305020303" pitchFamily="18" charset="0"/>
              </a:rPr>
              <a:t> you don’t see your device, tap “Scan” to refresh the list.</a:t>
            </a:r>
            <a:endParaRPr lang="en-IN" sz="2400" dirty="0">
              <a:latin typeface="Bell MT" panose="02020503060305020303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6F1AAFC-3F79-0B2F-FFA4-16AB055E7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039" y="2901050"/>
            <a:ext cx="2626326" cy="330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AE4A1D-2B78-3E4D-CCB4-5AD36785AF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227" y="2934394"/>
            <a:ext cx="2916685" cy="32690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0006FF-3160-5DA3-8556-6FD32091D9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03" y="2901049"/>
            <a:ext cx="2959586" cy="330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95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D6ED-625E-6E6E-AE6D-D0E9BDF3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5B02D5B-1E34-FF4B-08D6-3B3F563FA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1088" y="136526"/>
            <a:ext cx="8629824" cy="9937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 dirty="0"/>
              <a:t>STM …Contd...</a:t>
            </a:r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E3F5AABB-0481-6CA6-2ABA-0BA77B04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4B8CF28-9E52-4700-9806-7B96A87AF780}" type="slidenum">
              <a:rPr lang="en-US" altLang="en-US" sz="1600">
                <a:solidFill>
                  <a:srgbClr val="FF000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600">
              <a:solidFill>
                <a:srgbClr val="FF0000"/>
              </a:solidFill>
            </a:endParaRPr>
          </a:p>
        </p:txBody>
      </p:sp>
      <p:sp>
        <p:nvSpPr>
          <p:cNvPr id="14341" name="Footer Placeholder 7">
            <a:extLst>
              <a:ext uri="{FF2B5EF4-FFF2-40B4-BE49-F238E27FC236}">
                <a16:creationId xmlns:a16="http://schemas.microsoft.com/office/drawing/2014/main" id="{24F72A0F-976E-4EDC-205B-3B1193473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Bell MT" panose="020205030603050203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Bell MT" panose="020205030603050203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Bell MT" panose="020205030603050203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Bell MT" panose="020205030603050203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6DB3C-6F45-DE4C-E838-8A6F09C67F2A}"/>
              </a:ext>
            </a:extLst>
          </p:cNvPr>
          <p:cNvSpPr txBox="1"/>
          <p:nvPr/>
        </p:nvSpPr>
        <p:spPr>
          <a:xfrm>
            <a:off x="9782482" y="5723751"/>
            <a:ext cx="67614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1"/>
                </a:solidFill>
                <a:latin typeface="Arial Rounded MT Bold" panose="020F0704030504030204" pitchFamily="34" charset="0"/>
              </a:rPr>
              <a:t>3/19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86E57D-B99D-3630-6F38-09E5A5F1C630}"/>
                  </a:ext>
                </a:extLst>
              </p14:cNvPr>
              <p14:cNvContentPartPr/>
              <p14:nvPr/>
            </p14:nvContentPartPr>
            <p14:xfrm>
              <a:off x="-3306000" y="4103363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86E57D-B99D-3630-6F38-09E5A5F1C6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15000" y="40943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E1F733-AC9B-76AA-DF57-527B5337DBDD}"/>
                  </a:ext>
                </a:extLst>
              </p14:cNvPr>
              <p14:cNvContentPartPr/>
              <p14:nvPr/>
            </p14:nvContentPartPr>
            <p14:xfrm>
              <a:off x="-543345" y="45433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E1F733-AC9B-76AA-DF57-527B5337DB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52345" y="45343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9BCFDF2-8AAA-19CD-CD75-0739419AD879}"/>
              </a:ext>
            </a:extLst>
          </p:cNvPr>
          <p:cNvSpPr txBox="1"/>
          <p:nvPr/>
        </p:nvSpPr>
        <p:spPr>
          <a:xfrm>
            <a:off x="1781088" y="1412241"/>
            <a:ext cx="8629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Bell MT" panose="02020503060305020303" pitchFamily="18" charset="0"/>
              </a:rPr>
              <a:t>If your device is available then connect it. After successfully connected use commands to run project.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C5DEC0-06EA-67F8-5ACF-6818CA6D7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1241" y="2525178"/>
            <a:ext cx="4627299" cy="2749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9F7902-5364-3937-CA87-F302C91409CC}"/>
              </a:ext>
            </a:extLst>
          </p:cNvPr>
          <p:cNvSpPr txBox="1"/>
          <p:nvPr/>
        </p:nvSpPr>
        <p:spPr>
          <a:xfrm>
            <a:off x="1673588" y="5377095"/>
            <a:ext cx="8737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Bell MT" panose="02020503060305020303" pitchFamily="18" charset="0"/>
              </a:rPr>
              <a:t>REFERENCE : https://microcontrollerslab.com/hc-05-bluetooth-module-stm32-nucleo-stm32cubeide/</a:t>
            </a:r>
          </a:p>
        </p:txBody>
      </p:sp>
    </p:spTree>
    <p:extLst>
      <p:ext uri="{BB962C8B-B14F-4D97-AF65-F5344CB8AC3E}">
        <p14:creationId xmlns:p14="http://schemas.microsoft.com/office/powerpoint/2010/main" val="272268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2002</Words>
  <Application>Microsoft Office PowerPoint</Application>
  <PresentationFormat>Widescreen</PresentationFormat>
  <Paragraphs>330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Rounded MT Bold</vt:lpstr>
      <vt:lpstr>Bell MT</vt:lpstr>
      <vt:lpstr>Calibri</vt:lpstr>
      <vt:lpstr>Calibri Light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LCD using STM32CubeIDE </vt:lpstr>
      <vt:lpstr>STM …Contd...</vt:lpstr>
      <vt:lpstr>STM …Contd...</vt:lpstr>
      <vt:lpstr>STM …Contd...</vt:lpstr>
      <vt:lpstr>STM …Contd...</vt:lpstr>
      <vt:lpstr>STM …Contd...</vt:lpstr>
      <vt:lpstr>STM …Contd...</vt:lpstr>
      <vt:lpstr>STM …Contd...</vt:lpstr>
      <vt:lpstr>STM …Contd...</vt:lpstr>
      <vt:lpstr>STM …Contd...</vt:lpstr>
      <vt:lpstr>STM …Contd...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Guruprasad Koppala</dc:creator>
  <cp:lastModifiedBy>Guruprasad Koppala</cp:lastModifiedBy>
  <cp:revision>1</cp:revision>
  <dcterms:created xsi:type="dcterms:W3CDTF">2025-11-30T14:29:02Z</dcterms:created>
  <dcterms:modified xsi:type="dcterms:W3CDTF">2025-11-30T14:34:45Z</dcterms:modified>
</cp:coreProperties>
</file>